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56" r:id="rId4"/>
    <p:sldId id="283" r:id="rId6"/>
    <p:sldId id="284" r:id="rId7"/>
    <p:sldId id="327" r:id="rId8"/>
    <p:sldId id="313" r:id="rId9"/>
    <p:sldId id="315" r:id="rId10"/>
    <p:sldId id="316" r:id="rId11"/>
    <p:sldId id="317" r:id="rId12"/>
    <p:sldId id="318" r:id="rId13"/>
    <p:sldId id="322" r:id="rId14"/>
    <p:sldId id="325" r:id="rId15"/>
    <p:sldId id="330" r:id="rId16"/>
    <p:sldId id="28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EDF"/>
    <a:srgbClr val="EAFFFF"/>
    <a:srgbClr val="6FB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" y="7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2F9A7-9917-48E2-85F3-32DE9F8BD4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EACB1-A2F6-4F40-9E6C-F8EFEBB463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EACB1-A2F6-4F40-9E6C-F8EFEBB463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EACB1-A2F6-4F40-9E6C-F8EFEBB463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3118616" y="985813"/>
            <a:ext cx="5954769" cy="4886374"/>
            <a:chOff x="361364" y="2888343"/>
            <a:chExt cx="4533484" cy="3720094"/>
          </a:xfrm>
        </p:grpSpPr>
        <p:sp>
          <p:nvSpPr>
            <p:cNvPr id="7" name="椭圆 6"/>
            <p:cNvSpPr/>
            <p:nvPr userDrawn="1"/>
          </p:nvSpPr>
          <p:spPr>
            <a:xfrm>
              <a:off x="767907" y="2888343"/>
              <a:ext cx="3720398" cy="3720094"/>
            </a:xfrm>
            <a:prstGeom prst="ellipse">
              <a:avLst/>
            </a:prstGeom>
            <a:solidFill>
              <a:srgbClr val="EAEED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75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361364" y="3942528"/>
              <a:ext cx="4533484" cy="1776102"/>
            </a:xfrm>
            <a:prstGeom prst="rect">
              <a:avLst/>
            </a:prstGeom>
            <a:solidFill>
              <a:srgbClr val="DF6165"/>
            </a:solidFill>
            <a:ln w="38100">
              <a:solidFill>
                <a:srgbClr val="EAEE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75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8616" y="2370493"/>
            <a:ext cx="5954769" cy="155804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8616" y="4097867"/>
            <a:ext cx="5954769" cy="60555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691" y="2286000"/>
            <a:ext cx="12231915" cy="921218"/>
          </a:xfrm>
          <a:solidFill>
            <a:schemeClr val="accent1">
              <a:lumMod val="60000"/>
              <a:lumOff val="40000"/>
            </a:schemeClr>
          </a:solidFill>
        </p:spPr>
        <p:txBody>
          <a:bodyPr lIns="2520000" anchor="ctr" anchorCtr="0">
            <a:normAutofit/>
          </a:bodyPr>
          <a:lstStyle>
            <a:lvl1pPr algn="ctr"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84743"/>
            <a:ext cx="10515600" cy="58405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6690" y="3207218"/>
            <a:ext cx="12231915" cy="359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38912" rtlCol="0" anchor="ctr">
            <a:normAutofit/>
          </a:bodyPr>
          <a:lstStyle/>
          <a:p>
            <a:pPr algn="ctr"/>
            <a:endParaRPr lang="zh-CN" altLang="en-US" sz="77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38800"/>
            <a:ext cx="10515600" cy="864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4333" y="2286001"/>
            <a:ext cx="7772400" cy="1051820"/>
          </a:xfrm>
          <a:prstGeom prst="parallelogram">
            <a:avLst/>
          </a:prstGeom>
          <a:solidFill>
            <a:schemeClr val="accent1"/>
          </a:solidFill>
        </p:spPr>
        <p:txBody>
          <a:bodyPr tIns="0" bIns="0">
            <a:noAutofit/>
          </a:bodyPr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6" name="平行四边形 5"/>
          <p:cNvSpPr/>
          <p:nvPr userDrawn="1"/>
        </p:nvSpPr>
        <p:spPr>
          <a:xfrm>
            <a:off x="3110978" y="3407630"/>
            <a:ext cx="9081023" cy="187948"/>
          </a:xfrm>
          <a:prstGeom prst="parallelogram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75" spc="126">
              <a:solidFill>
                <a:schemeClr val="accent2">
                  <a:lumMod val="40000"/>
                  <a:lumOff val="60000"/>
                </a:schemeClr>
              </a:solidFill>
              <a:latin typeface="Bell MT" pitchFamily="18" charset="0"/>
              <a:ea typeface="幼圆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846667"/>
            <a:ext cx="2628900" cy="5330296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846667"/>
            <a:ext cx="7734300" cy="533029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8202" y="255122"/>
            <a:ext cx="10515598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2049"/>
          <p:cNvSpPr/>
          <p:nvPr>
            <p:ph type="ctrTitle"/>
          </p:nvPr>
        </p:nvSpPr>
        <p:spPr>
          <a:xfrm>
            <a:off x="719667" y="1866900"/>
            <a:ext cx="10363200" cy="1438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lvl="0" algn="ctr">
              <a:defRPr sz="4400" b="1" kern="12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副标题 2050"/>
          <p:cNvSpPr/>
          <p:nvPr>
            <p:ph type="subTitle" idx="1"/>
          </p:nvPr>
        </p:nvSpPr>
        <p:spPr>
          <a:xfrm>
            <a:off x="1634067" y="3522663"/>
            <a:ext cx="8534400" cy="1058862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 anchorCtr="1"/>
          <a:lstStyle>
            <a:lvl1pPr marL="0" lvl="0" indent="0" algn="ctr">
              <a:buNone/>
              <a:defRPr kern="1200">
                <a:solidFill>
                  <a:schemeClr val="bg1"/>
                </a:solidFill>
              </a:defRPr>
            </a:lvl1pPr>
            <a:lvl2pPr marL="457200" lvl="1" indent="-457200" algn="ctr">
              <a:buNone/>
              <a:defRPr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lvl="2" indent="-914400" algn="ctr">
              <a:buNone/>
              <a:defRPr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lvl="3" indent="-1371600" algn="ctr">
              <a:buNone/>
              <a:defRPr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lvl="4" indent="-1828800" algn="ctr">
              <a:buNone/>
              <a:defRPr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2" name="日期占位符 2051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53" name="页脚占位符 2052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endParaRPr lang="zh-CN" altLang="en-US"/>
          </a:p>
        </p:txBody>
      </p:sp>
      <p:sp>
        <p:nvSpPr>
          <p:cNvPr id="2054" name="灯片编号占位符 2053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118616" y="985813"/>
            <a:ext cx="5954769" cy="4886374"/>
            <a:chOff x="361364" y="2888343"/>
            <a:chExt cx="4533484" cy="3720094"/>
          </a:xfrm>
        </p:grpSpPr>
        <p:sp>
          <p:nvSpPr>
            <p:cNvPr id="7" name="椭圆 6"/>
            <p:cNvSpPr/>
            <p:nvPr userDrawn="1"/>
          </p:nvSpPr>
          <p:spPr>
            <a:xfrm>
              <a:off x="767907" y="2888343"/>
              <a:ext cx="3720398" cy="3720094"/>
            </a:xfrm>
            <a:prstGeom prst="ellipse">
              <a:avLst/>
            </a:prstGeom>
            <a:solidFill>
              <a:srgbClr val="EAEED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775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361364" y="3942528"/>
              <a:ext cx="4533484" cy="1776102"/>
            </a:xfrm>
            <a:prstGeom prst="rect">
              <a:avLst/>
            </a:prstGeom>
            <a:solidFill>
              <a:srgbClr val="DF6165"/>
            </a:solidFill>
            <a:ln w="38100">
              <a:solidFill>
                <a:srgbClr val="EAEE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775"/>
            </a:p>
          </p:txBody>
        </p:sp>
      </p:grp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6690" y="3207218"/>
            <a:ext cx="12231915" cy="359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38912" rtlCol="0" anchor="ctr">
            <a:normAutofit/>
          </a:bodyPr>
          <a:p>
            <a:pPr algn="ctr"/>
            <a:endParaRPr lang="zh-CN" altLang="en-US" sz="77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7051" y="1855788"/>
            <a:ext cx="5376672" cy="43100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23179" y="1855788"/>
            <a:ext cx="5376672" cy="43100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6" name="平行四边形 5"/>
          <p:cNvSpPr/>
          <p:nvPr userDrawn="1"/>
        </p:nvSpPr>
        <p:spPr>
          <a:xfrm>
            <a:off x="3110978" y="3407630"/>
            <a:ext cx="9081023" cy="187948"/>
          </a:xfrm>
          <a:prstGeom prst="parallelogram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675" spc="126">
              <a:solidFill>
                <a:schemeClr val="accent2">
                  <a:lumMod val="40000"/>
                  <a:lumOff val="60000"/>
                </a:schemeClr>
              </a:solidFill>
              <a:latin typeface="Bell MT" pitchFamily="18" charset="0"/>
              <a:ea typeface="幼圆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56651" y="776288"/>
            <a:ext cx="2743200" cy="53895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7051" y="776288"/>
            <a:ext cx="8070573" cy="53895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469539"/>
          </a:xfrm>
          <a:prstGeom prst="rect">
            <a:avLst/>
          </a:prstGeom>
          <a:solidFill>
            <a:srgbClr val="6FB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469539"/>
            <a:ext cx="12192000" cy="188760"/>
          </a:xfrm>
          <a:prstGeom prst="rect">
            <a:avLst/>
          </a:prstGeom>
          <a:solidFill>
            <a:srgbClr val="DF6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775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E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37686"/>
            <a:ext cx="10515600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/>
          <p:nvPr>
            <p:ph type="title"/>
          </p:nvPr>
        </p:nvSpPr>
        <p:spPr>
          <a:xfrm>
            <a:off x="541867" y="776288"/>
            <a:ext cx="10947400" cy="935037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/>
          <p:nvPr>
            <p:ph type="body" idx="1"/>
          </p:nvPr>
        </p:nvSpPr>
        <p:spPr>
          <a:xfrm>
            <a:off x="527051" y="1855788"/>
            <a:ext cx="10972800" cy="431006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400"/>
            </a:lvl1pPr>
          </a:lstStyle>
          <a:p>
            <a:fld id="{DAFC83C4-A236-483F-94E1-16AFA86FAD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页脚占位符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灯片编号占位符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400"/>
            </a:lvl1pPr>
          </a:lstStyle>
          <a:p>
            <a:fld id="{651E8863-1879-49C9-9D7E-0C23B4A06F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36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14748364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14748364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14748364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14748364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71190" y="3679190"/>
            <a:ext cx="5782310" cy="909955"/>
          </a:xfrm>
        </p:spPr>
        <p:txBody>
          <a:bodyPr>
            <a:normAutofit/>
          </a:bodyPr>
          <a:lstStyle/>
          <a:p>
            <a:r>
              <a:rPr lang="en-US" altLang="zh-CN" dirty="0"/>
              <a:t>Openstack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215" y="2470150"/>
            <a:ext cx="1260475" cy="1301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8165" y="340105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penstack由来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800" y="1825200"/>
            <a:ext cx="10515600" cy="43524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openstack最早由美国国家航空航天局NASA研发的Nova和Rackspace研发的swift组成。后来以apache许可证授权,旨在为公共及私有云平台建设。openstack主要用来为企业内部实现类似于Amazon EC2和S3的云基础架构服务（Iaas）.每6个月更新一次，基本与ubuntu同步，命名是以A-Z作为首字母来的。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38835" y="299720"/>
            <a:ext cx="10515600" cy="652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penstack项目与组件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" y="1064260"/>
            <a:ext cx="12190730" cy="58191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Keystone</a:t>
            </a:r>
            <a:endParaRPr lang="x-none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3960" y="1553845"/>
            <a:ext cx="7329170" cy="5183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Nova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nova-api 接收和响应客户的 API 调用。</a:t>
            </a:r>
            <a:endParaRPr lang="zh-CN" altLang="en-US"/>
          </a:p>
          <a:p>
            <a:r>
              <a:rPr lang="zh-CN" altLang="en-US"/>
              <a:t>nova-scheduler 虚机调度服务，负责决定在哪个计算节点上运行虚机 </a:t>
            </a:r>
            <a:endParaRPr lang="zh-CN" altLang="en-US"/>
          </a:p>
          <a:p>
            <a:r>
              <a:rPr lang="zh-CN" altLang="en-US"/>
              <a:t>nova-compute 管理虚机的核心服务，通过调用 Hypervisor API 实现虚机生命周期管理 </a:t>
            </a:r>
            <a:endParaRPr lang="zh-CN" altLang="en-US"/>
          </a:p>
          <a:p>
            <a:r>
              <a:rPr lang="zh-CN" altLang="en-US"/>
              <a:t>nova-conductor nova-compute 经常需要更新数据库</a:t>
            </a:r>
            <a:r>
              <a:rPr lang="x-none" altLang="zh-CN"/>
              <a:t>，</a:t>
            </a:r>
            <a:r>
              <a:rPr lang="zh-CN" altLang="en-US"/>
              <a:t>出于安全性和伸缩性的考虑，nova-compute 并不会直接访问数据库，而是将这个任务委托给 nova-conductor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2512" y="790258"/>
            <a:ext cx="10947400" cy="935037"/>
          </a:xfrm>
        </p:spPr>
        <p:txBody>
          <a:bodyPr/>
          <a:p>
            <a:r>
              <a:rPr lang="x-none" altLang="zh-CN"/>
              <a:t>Glance</a:t>
            </a:r>
            <a:endParaRPr lang="x-none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2980" y="1842135"/>
            <a:ext cx="4105910" cy="3895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35" y="1837690"/>
            <a:ext cx="4671060" cy="3851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Cinder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Cinder-api 是 cinder 服务的 endpoint，提供 rest 接口，负责处理 client 请求，并将 RPC 请求发送至 cinder-scheduler 组件。</a:t>
            </a:r>
            <a:endParaRPr lang="zh-CN" altLang="en-US"/>
          </a:p>
          <a:p>
            <a:r>
              <a:rPr lang="zh-CN" altLang="en-US"/>
              <a:t>Cinder-scheduler 负责 cinder 请求调度，其核心部分就是 scheduler_driver, 作为 scheduler manager 的 driver，负责 cinder-volume 具体的调度处理，发送 cinder RPC 请求到选择的 cinder-volume。</a:t>
            </a:r>
            <a:endParaRPr lang="zh-CN" altLang="en-US"/>
          </a:p>
          <a:p>
            <a:r>
              <a:rPr lang="zh-CN" altLang="en-US"/>
              <a:t>Cinder-volume 负责具体的 volume 请求处理，由不同后端存储提供 volume 存储空间。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Neutron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1.Neutron-server可以理解为一个专门用来接收Neutron REST API调用的服务器，然后负责将不同的rest api分发到不同的neutron-plugin上。</a:t>
            </a:r>
            <a:endParaRPr lang="zh-CN" altLang="en-US"/>
          </a:p>
          <a:p>
            <a:r>
              <a:rPr lang="zh-CN" altLang="en-US"/>
              <a:t>2.Neutron-plugin可以理解为不同网络功能实现的入口，各个厂商可以开发自己的plugin。Neutron-plugin接收neutron-server分发过来的REST API，向neutron database完成一些信息的注册，然后将具体要执行的业务操作和参数通知给自身对应的neutron agent。</a:t>
            </a:r>
            <a:endParaRPr lang="x-none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Neutron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Core-plugin，Neutron中即为ML2（Modular Layer 2），负责管理L2的网络连接。ML2中主要包括network、subnet、port三类核心资源，对三类资源进行操作的REST API被neutron-server看作Core API，由Neutron原生支持。</a:t>
            </a:r>
            <a:endParaRPr lang="zh-CN" altLang="en-US"/>
          </a:p>
          <a:p>
            <a:r>
              <a:rPr lang="zh-CN" altLang="en-US"/>
              <a:t>Service-plugin，即为除core-plugin以外其它的plugin，包括l3 router、firewall、loadbalancer、VPN、metering等等，主要实现L3-L7的网络服务。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Neutron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3.Neutron-agent可以直观地理解为neutron-plugin在设备上的代理，接收相应的neutron-plugin通知的业务操作和参数，并转换为具体的设备级操作，以指导设备的动作。当设备本地发生问题时，neutron-agent会将情况通知给neutron-plugin。</a:t>
            </a:r>
            <a:endParaRPr lang="x-none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vxlan</a:t>
            </a:r>
            <a:endParaRPr lang="x-none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56105"/>
            <a:ext cx="7570470" cy="43097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" y="647700"/>
            <a:ext cx="12190730" cy="5819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819650" y="3612515"/>
            <a:ext cx="3802380" cy="934720"/>
          </a:xfrm>
        </p:spPr>
        <p:txBody>
          <a:bodyPr>
            <a:normAutofit/>
          </a:bodyPr>
          <a:lstStyle/>
          <a:p>
            <a:r>
              <a:rPr lang="en-US" altLang="zh-CN" smtClean="0"/>
              <a:t>THANK YOU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000120140530A99PPBG">
  <a:themeElements>
    <a:clrScheme name="160566">
      <a:dk1>
        <a:srgbClr val="2F2F2F"/>
      </a:dk1>
      <a:lt1>
        <a:srgbClr val="FFFFFF"/>
      </a:lt1>
      <a:dk2>
        <a:srgbClr val="FFFFFF"/>
      </a:dk2>
      <a:lt2>
        <a:srgbClr val="5F5F5F"/>
      </a:lt2>
      <a:accent1>
        <a:srgbClr val="6FBFB2"/>
      </a:accent1>
      <a:accent2>
        <a:srgbClr val="49837F"/>
      </a:accent2>
      <a:accent3>
        <a:srgbClr val="3B525F"/>
      </a:accent3>
      <a:accent4>
        <a:srgbClr val="A28F30"/>
      </a:accent4>
      <a:accent5>
        <a:srgbClr val="DF6165"/>
      </a:accent5>
      <a:accent6>
        <a:srgbClr val="FF3B3B"/>
      </a:accent6>
      <a:hlink>
        <a:srgbClr val="00B0F0"/>
      </a:hlink>
      <a:folHlink>
        <a:srgbClr val="AFB2B4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世界地图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1420</Words>
  <Application>WPS 演示</Application>
  <PresentationFormat>宽屏</PresentationFormat>
  <Paragraphs>43</Paragraphs>
  <Slides>13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黑体</vt:lpstr>
      <vt:lpstr>Bell MT</vt:lpstr>
      <vt:lpstr>幼圆</vt:lpstr>
      <vt:lpstr>微软雅黑</vt:lpstr>
      <vt:lpstr>方正书宋_GBK</vt:lpstr>
      <vt:lpstr>Calibri</vt:lpstr>
      <vt:lpstr>Segoe Print</vt:lpstr>
      <vt:lpstr>A000120140530A99PPBG</vt:lpstr>
      <vt:lpstr>世界地图</vt:lpstr>
      <vt:lpstr>Openstack</vt:lpstr>
      <vt:lpstr>PowerPoint 演示文稿</vt:lpstr>
      <vt:lpstr>PowerPoint 演示文稿</vt:lpstr>
      <vt:lpstr>Keystone</vt:lpstr>
      <vt:lpstr>Nova</vt:lpstr>
      <vt:lpstr>Glance</vt:lpstr>
      <vt:lpstr>Cinder</vt:lpstr>
      <vt:lpstr>Neutron</vt:lpstr>
      <vt:lpstr>Neutron</vt:lpstr>
      <vt:lpstr>Neutron</vt:lpstr>
      <vt:lpstr>vxlan</vt:lpstr>
      <vt:lpstr>PowerPoint 演示文稿</vt:lpstr>
      <vt:lpstr>THANK YOU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Jiang</cp:lastModifiedBy>
  <cp:revision>178</cp:revision>
  <dcterms:created xsi:type="dcterms:W3CDTF">2016-12-28T08:10:00Z</dcterms:created>
  <dcterms:modified xsi:type="dcterms:W3CDTF">2017-03-01T15:17:15Z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  <property fmtid="{D5CDD505-2E9C-101B-9397-08002B2CF9AE}" pid="3" name="name">
    <vt:lpwstr>绿色扁平风演讲汇报模板.pptx</vt:lpwstr>
  </property>
  <property fmtid="{D5CDD505-2E9C-101B-9397-08002B2CF9AE}" pid="4" name="fileid">
    <vt:lpwstr>861703</vt:lpwstr>
  </property>
  <property fmtid="{D5CDD505-2E9C-101B-9397-08002B2CF9AE}" pid="5" name="search_tags">
    <vt:lpwstr>PPT模板</vt:lpwstr>
  </property>
</Properties>
</file>